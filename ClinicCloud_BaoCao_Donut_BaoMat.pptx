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Hồ sơ</c:v>
                </c:pt>
              </c:strCache>
            </c:strRef>
          </c:tx>
          <c:dPt>
            <c:idx val="0"/>
            <c:spPr>
              <a:solidFill>
                <a:srgbClr val="168C8C"/>
              </a:solidFill>
            </c:spPr>
          </c:dPt>
          <c:dPt>
            <c:idx val="1"/>
            <c:spPr>
              <a:solidFill>
                <a:srgbClr val="2F6690"/>
              </a:solidFill>
            </c:spPr>
          </c:dPt>
          <c:dPt>
            <c:idx val="2"/>
            <c:spPr>
              <a:solidFill>
                <a:srgbClr val="F28C28"/>
              </a:solidFill>
            </c:spPr>
          </c:dPt>
          <c:dPt>
            <c:idx val="3"/>
            <c:spPr>
              <a:solidFill>
                <a:srgbClr val="70A0B8"/>
              </a:solidFill>
            </c:spPr>
          </c:dPt>
          <c:dPt>
            <c:idx val="4"/>
            <c:spPr>
              <a:solidFill>
                <a:srgbClr val="74829B"/>
              </a:solidFill>
            </c:spPr>
          </c:dPt>
          <c:dPt>
            <c:idx val="5"/>
            <c:spPr>
              <a:solidFill>
                <a:srgbClr val="5D798C"/>
              </a:solidFill>
            </c:spPr>
          </c:dPt>
          <c:cat>
            <c:strRef>
              <c:f>Sheet1!$A$2:$A$7</c:f>
              <c:strCache>
                <c:ptCount val="6"/>
                <c:pt idx="0">
                  <c:v>Hô hấp</c:v>
                </c:pt>
                <c:pt idx="1">
                  <c:v>Tiêu hóa</c:v>
                </c:pt>
                <c:pt idx="2">
                  <c:v>Da liễu</c:v>
                </c:pt>
                <c:pt idx="3">
                  <c:v>Tim mạch</c:v>
                </c:pt>
                <c:pt idx="4">
                  <c:v>Nội tiết</c:v>
                </c:pt>
                <c:pt idx="5">
                  <c:v>Khác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20</c:v>
                </c:pt>
                <c:pt idx="2">
                  <c:v>16</c:v>
                </c:pt>
                <c:pt idx="3">
                  <c:v>14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FFFFF"/>
                  </a:solidFill>
                  <a:latin typeface="Aptos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solidFill>
                <a:srgbClr val="FFFFFF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8C8C"/>
                </a:solidFill>
                <a:latin typeface="Aptos"/>
              </a:defRPr>
            </a:pPr>
            <a:r>
              <a:t>CLINIC-CLOUD  /  HEALTH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Dữ liệu y tế chỉ hữu ích khi được bảo vệ đúng cách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146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CEBF0"/>
                </a:solidFill>
                <a:latin typeface="Aptos"/>
              </a:defRPr>
            </a:pPr>
            <a:r>
              <a:t>Bệnh án điện tử • Truy cập theo vai trò • Nhật ký kiểm toán • Sao lưu an toàn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324612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8C28"/>
                </a:solidFill>
                <a:latin typeface="Aptos"/>
              </a:defRPr>
            </a:pPr>
            <a:r>
              <a:t>BẢO VỆ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Phân quyền tối thiểu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3886200"/>
            <a:ext cx="324612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114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8C28"/>
                </a:solidFill>
                <a:latin typeface="Aptos"/>
              </a:defRPr>
            </a:pPr>
            <a:r>
              <a:t>THEO DÕI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5262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Ghi lại truy cập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86200"/>
            <a:ext cx="324612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114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8C28"/>
                </a:solidFill>
                <a:latin typeface="Aptos"/>
              </a:defRPr>
            </a:pPr>
            <a:r>
              <a:t>PHỤC HỒI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5262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Kiểm tra sao lưu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0B7C6"/>
                </a:solidFill>
                <a:latin typeface="Aptos"/>
              </a:defRPr>
            </a:pPr>
            <a:r>
              <a:t>01  /  TỔNG QUAN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Cơ cấu nhóm bệnh cần được theo dõi có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BF0"/>
                </a:solidFill>
                <a:latin typeface="Aptos"/>
              </a:defRPr>
            </a:pPr>
            <a:r>
              <a:t>Số liệu minh họa 1.000 hồ sơ giả lập — không phản ánh tình hình dịch bệnh thực tế.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77240" y="1600200"/>
          <a:ext cx="5852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8C28"/>
                </a:solidFill>
                <a:latin typeface="Aptos"/>
              </a:defRPr>
            </a:pPr>
            <a:r>
              <a:t>Cách sử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3317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Xác định nhóm cần rà soát</a:t>
            </a:r>
          </a:p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So sánh theo thời gian</a:t>
            </a:r>
          </a:p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Kiểm tra chất lượng dữ liệu</a:t>
            </a:r>
          </a:p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Chỉ chia sẻ số liệu tổng hợp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66344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BF0"/>
                </a:solidFill>
                <a:latin typeface="Aptos"/>
              </a:defRPr>
            </a:pPr>
            <a:r>
              <a:t>Không dùng biểu đồ này để kết luận dịch tễ học khi chưa xác minh nguồn và thời điểm dữ liệu.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0B7C6"/>
                </a:solidFill>
                <a:latin typeface="Aptos"/>
              </a:defRPr>
            </a:pPr>
            <a:r>
              <a:t>02  /  DONUT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Phân quyền và audit log là lớp bảo vệ bắt buộc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8C2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10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Phân quyền theo vai trò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128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BF0"/>
                </a:solidFill>
                <a:latin typeface="Aptos"/>
              </a:defRPr>
            </a:pPr>
            <a:r>
              <a:t>Chỉ truy cập hồ sơ cần thiết cho nhiệm vụ.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02920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8C2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10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Mã hóa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128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BF0"/>
                </a:solidFill>
                <a:latin typeface="Aptos"/>
              </a:defRPr>
            </a:pPr>
            <a:r>
              <a:t>Bảo vệ dữ liệu khi truyền và khi lưu.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02920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8C2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56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Sao lưu và phục hồi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587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BF0"/>
                </a:solidFill>
                <a:latin typeface="Aptos"/>
              </a:defRPr>
            </a:pPr>
            <a:r>
              <a:t>Kiểm thử phục hồi theo lịch.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291840"/>
            <a:ext cx="5029200" cy="1234440"/>
          </a:xfrm>
          <a:prstGeom prst="roundRect">
            <a:avLst/>
          </a:prstGeom>
          <a:solidFill>
            <a:srgbClr val="506D82"/>
          </a:solidFill>
          <a:ln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8C2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456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Theo dõi truy cập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8587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BF0"/>
                </a:solidFill>
                <a:latin typeface="Aptos"/>
              </a:defRPr>
            </a:pPr>
            <a:r>
              <a:t>Ghi log xem, sửa, xuất và thao tác nhạy cảm.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0B7C6"/>
                </a:solidFill>
                <a:latin typeface="Aptos"/>
              </a:defRPr>
            </a:pPr>
            <a:r>
              <a:t>03  /  BẢO MẬT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